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16"/>
  </p:notes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5B11BE-60F5-401B-8100-00AF5E1818DA}" type="datetimeFigureOut">
              <a:rPr lang="en-US" smtClean="0"/>
              <a:pPr/>
              <a:t>10/17/2024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AFC0F8-19C7-4084-BB41-852A1FB8205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smtClean="0"/>
          </a:p>
          <a:p>
            <a:endParaRPr lang="en-US" dirty="0"/>
          </a:p>
        </p:txBody>
      </p:sp>
      <p:sp>
        <p:nvSpPr>
          <p:cNvPr id="4" name="Slide Number Placeholder 3"/>
          <p:cNvSpPr>
            <a:spLocks noGrp="1"/>
          </p:cNvSpPr>
          <p:nvPr>
            <p:ph type="sldNum" sz="quarter" idx="10"/>
          </p:nvPr>
        </p:nvSpPr>
        <p:spPr/>
        <p:txBody>
          <a:bodyPr/>
          <a:lstStyle/>
          <a:p>
            <a:fld id="{09AFC0F8-19C7-4084-BB41-852A1FB8205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9AFC0F8-19C7-4084-BB41-852A1FB82057}"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756F58D-21C6-41AA-83FF-B61AD75602C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6F58D-21C6-41AA-83FF-B61AD75602C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756F58D-21C6-41AA-83FF-B61AD75602CE}"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E2E7A2A-E9FB-4140-8662-09A7863E9FF8}" type="datetimeFigureOut">
              <a:rPr lang="en-US" smtClean="0"/>
              <a:pPr/>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56F58D-21C6-41AA-83FF-B61AD75602C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E2E7A2A-E9FB-4140-8662-09A7863E9FF8}" type="datetimeFigureOut">
              <a:rPr lang="en-US" smtClean="0"/>
              <a:pPr/>
              <a:t>10/17/2024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756F58D-21C6-41AA-83FF-B61AD75602CE}"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3600" b="1" dirty="0" smtClean="0">
                <a:latin typeface="Cambria" pitchFamily="18" charset="0"/>
                <a:ea typeface="Cambria" pitchFamily="18" charset="0"/>
              </a:rPr>
              <a:t>EDUCATIONAL DATA MINING FOR STUDENTS PERFORMANCE </a:t>
            </a:r>
            <a:endParaRPr lang="en-US" sz="3600" b="1" dirty="0">
              <a:latin typeface="Cambria" pitchFamily="18" charset="0"/>
              <a:ea typeface="Cambria" pitchFamily="18" charset="0"/>
            </a:endParaRPr>
          </a:p>
        </p:txBody>
      </p:sp>
      <p:sp>
        <p:nvSpPr>
          <p:cNvPr id="3" name="Subtitle 2"/>
          <p:cNvSpPr>
            <a:spLocks noGrp="1"/>
          </p:cNvSpPr>
          <p:nvPr>
            <p:ph type="subTitle" idx="1"/>
          </p:nvPr>
        </p:nvSpPr>
        <p:spPr/>
        <p:txBody>
          <a:bodyPr>
            <a:normAutofit/>
          </a:bodyPr>
          <a:lstStyle/>
          <a:p>
            <a:r>
              <a:rPr lang="en-IN" b="1" dirty="0" smtClean="0">
                <a:effectLst>
                  <a:outerShdw blurRad="38100" dist="38100" dir="2700000" algn="tl">
                    <a:srgbClr val="000000">
                      <a:alpha val="43137"/>
                    </a:srgbClr>
                  </a:outerShdw>
                </a:effectLst>
                <a:latin typeface="Cambria" pitchFamily="18" charset="0"/>
                <a:ea typeface="Cambria" pitchFamily="18" charset="0"/>
              </a:rPr>
              <a:t>NAME: SARANYA S</a:t>
            </a:r>
          </a:p>
          <a:p>
            <a:r>
              <a:rPr lang="en-IN" b="1" dirty="0" smtClean="0">
                <a:effectLst>
                  <a:outerShdw blurRad="38100" dist="38100" dir="2700000" algn="tl">
                    <a:srgbClr val="000000">
                      <a:alpha val="43137"/>
                    </a:srgbClr>
                  </a:outerShdw>
                </a:effectLst>
                <a:latin typeface="Cambria" pitchFamily="18" charset="0"/>
                <a:ea typeface="Cambria" pitchFamily="18" charset="0"/>
              </a:rPr>
              <a:t>DATE  OF SUBMISSION: 18.10.2024</a:t>
            </a:r>
            <a:endParaRPr lang="en-US" b="1" dirty="0">
              <a:effectLst>
                <a:outerShdw blurRad="38100" dist="38100" dir="2700000" algn="tl">
                  <a:srgbClr val="000000">
                    <a:alpha val="43137"/>
                  </a:srgbClr>
                </a:outerShdw>
              </a:effectLst>
              <a:latin typeface="Cambria" pitchFamily="18" charset="0"/>
              <a:ea typeface="Cambria"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Cambria" pitchFamily="18" charset="0"/>
                <a:ea typeface="Cambria" pitchFamily="18" charset="0"/>
              </a:rPr>
              <a:t>Educational Data Mining (EDM)</a:t>
            </a:r>
            <a:r>
              <a:rPr lang="en-US" sz="3600" dirty="0" smtClean="0">
                <a:latin typeface="Cambria" pitchFamily="18" charset="0"/>
                <a:ea typeface="Cambria" pitchFamily="18" charset="0"/>
              </a:rPr>
              <a:t> </a:t>
            </a:r>
            <a:endParaRPr lang="en-US" sz="3600" dirty="0">
              <a:latin typeface="Cambria" pitchFamily="18" charset="0"/>
              <a:ea typeface="Cambria" pitchFamily="18" charset="0"/>
            </a:endParaRPr>
          </a:p>
        </p:txBody>
      </p:sp>
      <p:sp>
        <p:nvSpPr>
          <p:cNvPr id="3" name="Content Placeholder 2"/>
          <p:cNvSpPr>
            <a:spLocks noGrp="1"/>
          </p:cNvSpPr>
          <p:nvPr>
            <p:ph idx="1"/>
          </p:nvPr>
        </p:nvSpPr>
        <p:spPr/>
        <p:txBody>
          <a:bodyPr>
            <a:noAutofit/>
          </a:bodyPr>
          <a:lstStyle/>
          <a:p>
            <a:pPr>
              <a:buNone/>
            </a:pPr>
            <a:r>
              <a:rPr lang="en-US" sz="2000" b="1" dirty="0" smtClean="0">
                <a:latin typeface="Cambria" pitchFamily="18" charset="0"/>
                <a:ea typeface="Cambria" pitchFamily="18" charset="0"/>
              </a:rPr>
              <a:t>		Educational Data Mining (EDM)</a:t>
            </a:r>
            <a:r>
              <a:rPr lang="en-US" sz="2000" dirty="0" smtClean="0">
                <a:latin typeface="Cambria" pitchFamily="18" charset="0"/>
                <a:ea typeface="Cambria" pitchFamily="18" charset="0"/>
              </a:rPr>
              <a:t> is the process of using data mining techniques to analyze educational data and extract meaningful insights that can improve teaching and learning outcomes. EDM involves exploring large datasets from educational systems, such as student demographics, academic records, and online learning behaviors, to discover patterns and trends that can help educators make informed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04850"/>
            <a:ext cx="8229600" cy="44450"/>
          </a:xfrm>
        </p:spPr>
        <p:txBody>
          <a:bodyPr>
            <a:normAutofit fontScale="90000"/>
          </a:bodyPr>
          <a:lstStyle/>
          <a:p>
            <a:r>
              <a:rPr lang="en-IN" dirty="0" smtClean="0"/>
              <a:t> </a:t>
            </a:r>
            <a:endParaRPr lang="en-US" dirty="0"/>
          </a:p>
        </p:txBody>
      </p:sp>
      <p:sp>
        <p:nvSpPr>
          <p:cNvPr id="3" name="Content Placeholder 2"/>
          <p:cNvSpPr>
            <a:spLocks noGrp="1"/>
          </p:cNvSpPr>
          <p:nvPr>
            <p:ph idx="4294967295"/>
          </p:nvPr>
        </p:nvSpPr>
        <p:spPr>
          <a:xfrm>
            <a:off x="500063" y="1071563"/>
            <a:ext cx="8643937" cy="5253037"/>
          </a:xfrm>
        </p:spPr>
        <p:txBody>
          <a:bodyPr>
            <a:normAutofit/>
          </a:bodyPr>
          <a:lstStyle/>
          <a:p>
            <a:pPr>
              <a:buNone/>
            </a:pPr>
            <a:r>
              <a:rPr lang="en-US" sz="2400" b="1" dirty="0" smtClean="0">
                <a:solidFill>
                  <a:schemeClr val="accent1">
                    <a:lumMod val="75000"/>
                  </a:schemeClr>
                </a:solidFill>
                <a:latin typeface="Cambria" pitchFamily="18" charset="0"/>
                <a:ea typeface="Cambria" pitchFamily="18" charset="0"/>
              </a:rPr>
              <a:t>Why Student Performance Analysis is Important:</a:t>
            </a:r>
          </a:p>
          <a:p>
            <a:pPr>
              <a:buNone/>
            </a:pPr>
            <a:endParaRPr lang="en-US" sz="2400" b="1" dirty="0" smtClean="0">
              <a:latin typeface="Cambria" pitchFamily="18" charset="0"/>
              <a:ea typeface="Cambria" pitchFamily="18" charset="0"/>
            </a:endParaRPr>
          </a:p>
          <a:p>
            <a:pPr>
              <a:buFont typeface="Wingdings" pitchFamily="2" charset="2"/>
              <a:buChar char="v"/>
            </a:pPr>
            <a:r>
              <a:rPr lang="en-US" sz="2000" b="1" dirty="0" smtClean="0">
                <a:latin typeface="Cambria" pitchFamily="18" charset="0"/>
                <a:ea typeface="Cambria" pitchFamily="18" charset="0"/>
              </a:rPr>
              <a:t>Identify At-Risk Students</a:t>
            </a:r>
            <a:r>
              <a:rPr lang="en-US" sz="2000" dirty="0" smtClean="0">
                <a:latin typeface="Cambria" pitchFamily="18" charset="0"/>
                <a:ea typeface="Cambria" pitchFamily="18" charset="0"/>
              </a:rPr>
              <a:t>: EDM helps predict which students are likely to struggle or drop out, allowing early intervention and personalized support.</a:t>
            </a:r>
          </a:p>
          <a:p>
            <a:pPr>
              <a:buFont typeface="Wingdings" pitchFamily="2" charset="2"/>
              <a:buChar char="v"/>
            </a:pPr>
            <a:r>
              <a:rPr lang="en-US" sz="2000" b="1" dirty="0" smtClean="0">
                <a:latin typeface="Cambria" pitchFamily="18" charset="0"/>
                <a:ea typeface="Cambria" pitchFamily="18" charset="0"/>
              </a:rPr>
              <a:t>Improve Learning Outcomes</a:t>
            </a:r>
            <a:r>
              <a:rPr lang="en-US" sz="2000" dirty="0" smtClean="0">
                <a:latin typeface="Cambria" pitchFamily="18" charset="0"/>
                <a:ea typeface="Cambria" pitchFamily="18" charset="0"/>
              </a:rPr>
              <a:t>: By understanding factors that affect performance, educators can tailor teaching methods to meet individual needs, leading to better learning outcomes.</a:t>
            </a:r>
          </a:p>
          <a:p>
            <a:pPr>
              <a:buFont typeface="Wingdings" pitchFamily="2" charset="2"/>
              <a:buChar char="v"/>
            </a:pPr>
            <a:r>
              <a:rPr lang="en-US" sz="2000" b="1" dirty="0" smtClean="0">
                <a:latin typeface="Cambria" pitchFamily="18" charset="0"/>
                <a:ea typeface="Cambria" pitchFamily="18" charset="0"/>
              </a:rPr>
              <a:t>Optimize Resources</a:t>
            </a:r>
            <a:r>
              <a:rPr lang="en-US" sz="2000" dirty="0" smtClean="0">
                <a:latin typeface="Cambria" pitchFamily="18" charset="0"/>
                <a:ea typeface="Cambria" pitchFamily="18" charset="0"/>
              </a:rPr>
              <a:t>: Schools and universities can allocate resources more effectively by focusing on areas where students need the most support.</a:t>
            </a:r>
          </a:p>
          <a:p>
            <a:pPr>
              <a:buFont typeface="Wingdings" pitchFamily="2" charset="2"/>
              <a:buChar char="v"/>
            </a:pPr>
            <a:r>
              <a:rPr lang="en-US" sz="2000" b="1" dirty="0" smtClean="0">
                <a:latin typeface="Cambria" pitchFamily="18" charset="0"/>
                <a:ea typeface="Cambria" pitchFamily="18" charset="0"/>
              </a:rPr>
              <a:t>Enhance Personalization</a:t>
            </a:r>
            <a:r>
              <a:rPr lang="en-US" sz="2000" dirty="0" smtClean="0">
                <a:latin typeface="Cambria" pitchFamily="18" charset="0"/>
                <a:ea typeface="Cambria" pitchFamily="18" charset="0"/>
              </a:rPr>
              <a:t>: EDM enables personalized learning experiences by adapting content and pacing to suit individual student preferences and abilities.</a:t>
            </a:r>
          </a:p>
          <a:p>
            <a:pPr>
              <a:buFont typeface="Wingdings" pitchFamily="2" charset="2"/>
              <a:buChar char="v"/>
            </a:pPr>
            <a:r>
              <a:rPr lang="en-US" sz="2000" b="1" dirty="0" smtClean="0">
                <a:latin typeface="Cambria" pitchFamily="18" charset="0"/>
                <a:ea typeface="Cambria" pitchFamily="18" charset="0"/>
              </a:rPr>
              <a:t>Data-Driven Decision Making</a:t>
            </a:r>
            <a:r>
              <a:rPr lang="en-US" sz="2000" dirty="0" smtClean="0">
                <a:latin typeface="Cambria" pitchFamily="18" charset="0"/>
                <a:ea typeface="Cambria" pitchFamily="18" charset="0"/>
              </a:rPr>
              <a:t>: It provides educators and administrators with data-backed insights to improve curriculum design, assessment methods, and overall educational strategies.</a:t>
            </a:r>
          </a:p>
          <a:p>
            <a:pPr>
              <a:buNone/>
            </a:pPr>
            <a:endParaRPr lang="en-US" sz="2800" dirty="0" smtClean="0">
              <a:latin typeface="Cambria" pitchFamily="18" charset="0"/>
              <a:ea typeface="Cambria"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928670"/>
            <a:ext cx="8429684" cy="3600986"/>
          </a:xfrm>
          <a:prstGeom prst="rect">
            <a:avLst/>
          </a:prstGeom>
        </p:spPr>
        <p:txBody>
          <a:bodyPr wrap="square">
            <a:spAutoFit/>
          </a:bodyPr>
          <a:lstStyle/>
          <a:p>
            <a:r>
              <a:rPr lang="en-US" sz="2400" b="1" dirty="0" smtClean="0">
                <a:solidFill>
                  <a:schemeClr val="accent1">
                    <a:lumMod val="75000"/>
                  </a:schemeClr>
                </a:solidFill>
                <a:latin typeface="Cambria" pitchFamily="18" charset="0"/>
                <a:ea typeface="Cambria" pitchFamily="18" charset="0"/>
              </a:rPr>
              <a:t>Key Objectives:</a:t>
            </a:r>
          </a:p>
          <a:p>
            <a:endParaRPr lang="en-US" sz="2400" b="1" dirty="0" smtClean="0">
              <a:latin typeface="Cambria" pitchFamily="18" charset="0"/>
              <a:ea typeface="Cambria" pitchFamily="18" charset="0"/>
            </a:endParaRPr>
          </a:p>
          <a:p>
            <a:pPr>
              <a:buClr>
                <a:schemeClr val="accent3"/>
              </a:buClr>
              <a:buFont typeface="Wingdings" pitchFamily="2" charset="2"/>
              <a:buChar char="v"/>
            </a:pPr>
            <a:r>
              <a:rPr lang="en-US" sz="2000" b="1" dirty="0" smtClean="0">
                <a:latin typeface="Cambria" pitchFamily="18" charset="0"/>
                <a:ea typeface="Cambria" pitchFamily="18" charset="0"/>
              </a:rPr>
              <a:t>Predict Student Performance</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Use data to predict whether students will pass or fail.</a:t>
            </a:r>
          </a:p>
          <a:p>
            <a:pPr>
              <a:buClr>
                <a:schemeClr val="accent3"/>
              </a:buClr>
              <a:buFont typeface="Wingdings" pitchFamily="2" charset="2"/>
              <a:buChar char="v"/>
            </a:pPr>
            <a:r>
              <a:rPr lang="en-US" sz="2000" b="1" dirty="0" smtClean="0">
                <a:latin typeface="Cambria" pitchFamily="18" charset="0"/>
                <a:ea typeface="Cambria" pitchFamily="18" charset="0"/>
              </a:rPr>
              <a:t>Identify Key Factors</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Determine the factors that most influence student success.</a:t>
            </a:r>
          </a:p>
          <a:p>
            <a:pPr>
              <a:buClr>
                <a:schemeClr val="accent3"/>
              </a:buClr>
              <a:buFont typeface="Wingdings" pitchFamily="2" charset="2"/>
              <a:buChar char="v"/>
            </a:pPr>
            <a:r>
              <a:rPr lang="en-US" sz="2000" b="1" dirty="0" smtClean="0">
                <a:latin typeface="Cambria" pitchFamily="18" charset="0"/>
                <a:ea typeface="Cambria" pitchFamily="18" charset="0"/>
              </a:rPr>
              <a:t>Early Warning System</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Flag students at risk of underperforming for timely intervention.</a:t>
            </a:r>
          </a:p>
          <a:p>
            <a:pPr>
              <a:buClr>
                <a:schemeClr val="accent3"/>
              </a:buClr>
              <a:buFont typeface="Wingdings" pitchFamily="2" charset="2"/>
              <a:buChar char="v"/>
            </a:pPr>
            <a:r>
              <a:rPr lang="en-US" sz="2000" b="1" dirty="0" smtClean="0">
                <a:latin typeface="Cambria" pitchFamily="18" charset="0"/>
                <a:ea typeface="Cambria" pitchFamily="18" charset="0"/>
              </a:rPr>
              <a:t>Provide Data-Driven Insights</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Help educators make informed decisions to improve learning outcomes.</a:t>
            </a:r>
          </a:p>
          <a:p>
            <a:endParaRPr lang="en-US" sz="2000" dirty="0">
              <a:latin typeface="Cambria" pitchFamily="18" charset="0"/>
              <a:ea typeface="Cambria"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142984"/>
            <a:ext cx="8501122" cy="3539430"/>
          </a:xfrm>
          <a:prstGeom prst="rect">
            <a:avLst/>
          </a:prstGeom>
        </p:spPr>
        <p:txBody>
          <a:bodyPr wrap="square">
            <a:spAutoFit/>
          </a:bodyPr>
          <a:lstStyle/>
          <a:p>
            <a:r>
              <a:rPr lang="en-US" sz="2400" b="1" dirty="0" smtClean="0">
                <a:solidFill>
                  <a:schemeClr val="accent1">
                    <a:lumMod val="75000"/>
                  </a:schemeClr>
                </a:solidFill>
                <a:latin typeface="Cambria" pitchFamily="18" charset="0"/>
                <a:ea typeface="Cambria" pitchFamily="18" charset="0"/>
              </a:rPr>
              <a:t>Data Overview:</a:t>
            </a:r>
          </a:p>
          <a:p>
            <a:endParaRPr lang="en-US" sz="2000" b="1" dirty="0" smtClean="0">
              <a:solidFill>
                <a:schemeClr val="accent4"/>
              </a:solidFill>
              <a:latin typeface="Cambria" pitchFamily="18" charset="0"/>
              <a:ea typeface="Cambria" pitchFamily="18" charset="0"/>
            </a:endParaRPr>
          </a:p>
          <a:p>
            <a:pPr>
              <a:buClr>
                <a:schemeClr val="accent3"/>
              </a:buClr>
              <a:buFont typeface="Wingdings" pitchFamily="2" charset="2"/>
              <a:buChar char="v"/>
            </a:pPr>
            <a:r>
              <a:rPr lang="en-US" sz="2000" b="1" dirty="0" smtClean="0">
                <a:latin typeface="Cambria" pitchFamily="18" charset="0"/>
                <a:ea typeface="Cambria" pitchFamily="18" charset="0"/>
              </a:rPr>
              <a:t>Dataset Description</a:t>
            </a:r>
            <a:r>
              <a:rPr lang="en-US" sz="2000" dirty="0" smtClean="0">
                <a:latin typeface="Cambria" pitchFamily="18" charset="0"/>
                <a:ea typeface="Cambria" pitchFamily="18" charset="0"/>
              </a:rPr>
              <a:t>:</a:t>
            </a:r>
          </a:p>
          <a:p>
            <a:pPr lvl="1">
              <a:buFont typeface="Wingdings" pitchFamily="2" charset="2"/>
              <a:buChar char="§"/>
            </a:pPr>
            <a:r>
              <a:rPr lang="en-US" sz="2000" dirty="0" smtClean="0">
                <a:latin typeface="Cambria" pitchFamily="18" charset="0"/>
                <a:ea typeface="Cambria" pitchFamily="18" charset="0"/>
              </a:rPr>
              <a:t> Number of records, features (e.g., gender, test scores, parental                  education).</a:t>
            </a:r>
          </a:p>
          <a:p>
            <a:pPr lvl="1">
              <a:buFont typeface="Wingdings" pitchFamily="2" charset="2"/>
              <a:buChar char="§"/>
            </a:pPr>
            <a:r>
              <a:rPr lang="en-US" sz="2000" dirty="0" smtClean="0">
                <a:latin typeface="Cambria" pitchFamily="18" charset="0"/>
                <a:ea typeface="Cambria" pitchFamily="18" charset="0"/>
              </a:rPr>
              <a:t>Data source: (e.g., UCI dataset, or a school-specific dataset if applicable).</a:t>
            </a:r>
          </a:p>
          <a:p>
            <a:pPr lvl="1">
              <a:buFont typeface="Wingdings" pitchFamily="2" charset="2"/>
              <a:buChar char="§"/>
            </a:pPr>
            <a:r>
              <a:rPr lang="en-US" sz="2000" dirty="0" smtClean="0">
                <a:latin typeface="Cambria" pitchFamily="18" charset="0"/>
                <a:ea typeface="Cambria" pitchFamily="18" charset="0"/>
              </a:rPr>
              <a:t>Key variables: e.g., </a:t>
            </a:r>
            <a:r>
              <a:rPr lang="en-US" sz="2000" b="1" dirty="0" smtClean="0">
                <a:latin typeface="Cambria" pitchFamily="18" charset="0"/>
                <a:ea typeface="Cambria" pitchFamily="18" charset="0"/>
              </a:rPr>
              <a:t>math score</a:t>
            </a:r>
            <a:r>
              <a:rPr lang="en-US" sz="2000" dirty="0" smtClean="0">
                <a:latin typeface="Cambria" pitchFamily="18" charset="0"/>
                <a:ea typeface="Cambria" pitchFamily="18" charset="0"/>
              </a:rPr>
              <a:t>, </a:t>
            </a:r>
            <a:r>
              <a:rPr lang="en-US" sz="2000" b="1" dirty="0" smtClean="0">
                <a:latin typeface="Cambria" pitchFamily="18" charset="0"/>
                <a:ea typeface="Cambria" pitchFamily="18" charset="0"/>
              </a:rPr>
              <a:t>reading score</a:t>
            </a:r>
            <a:r>
              <a:rPr lang="en-US" sz="2000" dirty="0" smtClean="0">
                <a:latin typeface="Cambria" pitchFamily="18" charset="0"/>
                <a:ea typeface="Cambria" pitchFamily="18" charset="0"/>
              </a:rPr>
              <a:t>, </a:t>
            </a:r>
            <a:r>
              <a:rPr lang="en-US" sz="2000" b="1" dirty="0" smtClean="0">
                <a:latin typeface="Cambria" pitchFamily="18" charset="0"/>
                <a:ea typeface="Cambria" pitchFamily="18" charset="0"/>
              </a:rPr>
              <a:t>writing score</a:t>
            </a:r>
            <a:r>
              <a:rPr lang="en-US" sz="2000" dirty="0" smtClean="0">
                <a:latin typeface="Cambria" pitchFamily="18" charset="0"/>
                <a:ea typeface="Cambria" pitchFamily="18" charset="0"/>
              </a:rPr>
              <a:t>, </a:t>
            </a:r>
            <a:r>
              <a:rPr lang="en-US" sz="2000" b="1" dirty="0" smtClean="0">
                <a:latin typeface="Cambria" pitchFamily="18" charset="0"/>
                <a:ea typeface="Cambria" pitchFamily="18" charset="0"/>
              </a:rPr>
              <a:t>demographic information</a:t>
            </a:r>
            <a:r>
              <a:rPr lang="en-US" sz="2000" dirty="0" smtClean="0">
                <a:latin typeface="Cambria" pitchFamily="18" charset="0"/>
                <a:ea typeface="Cambria" pitchFamily="18" charset="0"/>
              </a:rPr>
              <a:t>.</a:t>
            </a:r>
          </a:p>
          <a:p>
            <a:r>
              <a:rPr lang="en-US" sz="2000" dirty="0" smtClean="0">
                <a:latin typeface="Cambria" pitchFamily="18" charset="0"/>
                <a:ea typeface="Cambria" pitchFamily="18" charset="0"/>
              </a:rPr>
              <a:t>Include a </a:t>
            </a:r>
            <a:r>
              <a:rPr lang="en-US" sz="2000" b="1" dirty="0" smtClean="0">
                <a:latin typeface="Cambria" pitchFamily="18" charset="0"/>
                <a:ea typeface="Cambria" pitchFamily="18" charset="0"/>
              </a:rPr>
              <a:t>Dataset </a:t>
            </a:r>
            <a:r>
              <a:rPr lang="en-US" sz="2000" dirty="0" smtClean="0">
                <a:latin typeface="Cambria" pitchFamily="18" charset="0"/>
                <a:ea typeface="Cambria" pitchFamily="18" charset="0"/>
              </a:rPr>
              <a:t>which I am used in this project. In next slide I insert the screenshot of the dataset.</a:t>
            </a:r>
            <a:endParaRPr lang="en-US" sz="2000" dirty="0">
              <a:latin typeface="Cambria" pitchFamily="18" charset="0"/>
              <a:ea typeface="Cambria"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79).png"/>
          <p:cNvPicPr>
            <a:picLocks noChangeAspect="1"/>
          </p:cNvPicPr>
          <p:nvPr/>
        </p:nvPicPr>
        <p:blipFill>
          <a:blip r:embed="rId2"/>
          <a:stretch>
            <a:fillRect/>
          </a:stretch>
        </p:blipFill>
        <p:spPr>
          <a:xfrm>
            <a:off x="357158" y="1000108"/>
            <a:ext cx="8572560" cy="56436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1142984"/>
            <a:ext cx="8286808" cy="6032421"/>
          </a:xfrm>
          <a:prstGeom prst="rect">
            <a:avLst/>
          </a:prstGeom>
        </p:spPr>
        <p:txBody>
          <a:bodyPr wrap="square">
            <a:spAutoFit/>
          </a:bodyPr>
          <a:lstStyle/>
          <a:p>
            <a:r>
              <a:rPr lang="en-US" sz="2400" b="1" dirty="0" smtClean="0">
                <a:solidFill>
                  <a:schemeClr val="accent1">
                    <a:lumMod val="75000"/>
                  </a:schemeClr>
                </a:solidFill>
                <a:latin typeface="Cambria" pitchFamily="18" charset="0"/>
                <a:ea typeface="Cambria" pitchFamily="18" charset="0"/>
              </a:rPr>
              <a:t>Data Preprocessing:</a:t>
            </a:r>
          </a:p>
          <a:p>
            <a:endParaRPr lang="en-US" sz="2400" b="1" dirty="0" smtClean="0">
              <a:latin typeface="Cambria" pitchFamily="18" charset="0"/>
              <a:ea typeface="Cambria" pitchFamily="18" charset="0"/>
            </a:endParaRPr>
          </a:p>
          <a:p>
            <a:pPr>
              <a:buClr>
                <a:schemeClr val="accent3"/>
              </a:buClr>
              <a:buFont typeface="Wingdings" pitchFamily="2" charset="2"/>
              <a:buChar char="v"/>
            </a:pPr>
            <a:r>
              <a:rPr lang="en-US" sz="2000" b="1" dirty="0" smtClean="0">
                <a:latin typeface="Cambria" pitchFamily="18" charset="0"/>
                <a:ea typeface="Cambria" pitchFamily="18" charset="0"/>
              </a:rPr>
              <a:t>Steps taken to clean and preprocess the data</a:t>
            </a:r>
            <a:r>
              <a:rPr lang="en-US" sz="2000" dirty="0" smtClean="0">
                <a:latin typeface="Cambria" pitchFamily="18" charset="0"/>
                <a:ea typeface="Cambria" pitchFamily="18" charset="0"/>
              </a:rPr>
              <a:t>:</a:t>
            </a:r>
          </a:p>
          <a:p>
            <a:pPr lvl="1">
              <a:buFont typeface="Wingdings" pitchFamily="2" charset="2"/>
              <a:buChar char="§"/>
            </a:pPr>
            <a:r>
              <a:rPr lang="en-US" sz="2000" dirty="0" smtClean="0">
                <a:latin typeface="Cambria" pitchFamily="18" charset="0"/>
                <a:ea typeface="Cambria" pitchFamily="18" charset="0"/>
              </a:rPr>
              <a:t>Handling missing values.</a:t>
            </a:r>
          </a:p>
          <a:p>
            <a:pPr lvl="1">
              <a:buFont typeface="Wingdings" pitchFamily="2" charset="2"/>
              <a:buChar char="§"/>
            </a:pPr>
            <a:r>
              <a:rPr lang="en-US" sz="2000" dirty="0" smtClean="0">
                <a:latin typeface="Cambria" pitchFamily="18" charset="0"/>
                <a:ea typeface="Cambria" pitchFamily="18" charset="0"/>
              </a:rPr>
              <a:t>Label encoding for categorical variables.</a:t>
            </a:r>
          </a:p>
          <a:p>
            <a:r>
              <a:rPr lang="en-US" sz="2000" dirty="0" smtClean="0">
                <a:latin typeface="Cambria" pitchFamily="18" charset="0"/>
                <a:ea typeface="Cambria" pitchFamily="18" charset="0"/>
              </a:rPr>
              <a:t>Creation of the target variable (pass/fail based on average score</a:t>
            </a:r>
            <a:r>
              <a:rPr lang="en-US" sz="2000" dirty="0" smtClean="0">
                <a:latin typeface="Cambria" pitchFamily="18" charset="0"/>
                <a:ea typeface="Cambria" pitchFamily="18" charset="0"/>
              </a:rPr>
              <a:t>).</a:t>
            </a:r>
            <a:r>
              <a:rPr lang="en-US" dirty="0" smtClean="0"/>
              <a:t> </a:t>
            </a:r>
            <a:endParaRPr lang="en-US" dirty="0" smtClean="0"/>
          </a:p>
          <a:p>
            <a:endParaRPr lang="en-US" dirty="0" smtClean="0"/>
          </a:p>
          <a:p>
            <a:r>
              <a:rPr lang="en-US" dirty="0" smtClean="0">
                <a:latin typeface="Cambria" pitchFamily="18" charset="0"/>
                <a:ea typeface="Cambria" pitchFamily="18" charset="0"/>
              </a:rPr>
              <a:t># </a:t>
            </a:r>
            <a:r>
              <a:rPr lang="en-US" dirty="0" smtClean="0">
                <a:latin typeface="Cambria" pitchFamily="18" charset="0"/>
                <a:ea typeface="Cambria" pitchFamily="18" charset="0"/>
              </a:rPr>
              <a:t>Create a target variable (pass/fail based on average score) </a:t>
            </a:r>
            <a:endParaRPr lang="en-US" dirty="0" smtClean="0">
              <a:latin typeface="Cambria" pitchFamily="18" charset="0"/>
              <a:ea typeface="Cambria" pitchFamily="18" charset="0"/>
            </a:endParaRPr>
          </a:p>
          <a:p>
            <a:r>
              <a:rPr lang="en-US" b="1" dirty="0" err="1" smtClean="0">
                <a:latin typeface="Cambria" pitchFamily="18" charset="0"/>
                <a:ea typeface="Cambria" pitchFamily="18" charset="0"/>
              </a:rPr>
              <a:t>df</a:t>
            </a:r>
            <a:r>
              <a:rPr lang="en-US" b="1" dirty="0" smtClean="0">
                <a:latin typeface="Cambria" pitchFamily="18" charset="0"/>
                <a:ea typeface="Cambria" pitchFamily="18" charset="0"/>
              </a:rPr>
              <a:t>['</a:t>
            </a:r>
            <a:r>
              <a:rPr lang="en-US" b="1" dirty="0" err="1" smtClean="0">
                <a:latin typeface="Cambria" pitchFamily="18" charset="0"/>
                <a:ea typeface="Cambria" pitchFamily="18" charset="0"/>
              </a:rPr>
              <a:t>average_score</a:t>
            </a:r>
            <a:r>
              <a:rPr lang="en-US" b="1" dirty="0" smtClean="0">
                <a:latin typeface="Cambria" pitchFamily="18" charset="0"/>
                <a:ea typeface="Cambria" pitchFamily="18" charset="0"/>
              </a:rPr>
              <a:t>'] = </a:t>
            </a:r>
            <a:r>
              <a:rPr lang="en-US" b="1" dirty="0" err="1" smtClean="0">
                <a:latin typeface="Cambria" pitchFamily="18" charset="0"/>
                <a:ea typeface="Cambria" pitchFamily="18" charset="0"/>
              </a:rPr>
              <a:t>df</a:t>
            </a:r>
            <a:r>
              <a:rPr lang="en-US" b="1" dirty="0" smtClean="0">
                <a:latin typeface="Cambria" pitchFamily="18" charset="0"/>
                <a:ea typeface="Cambria" pitchFamily="18" charset="0"/>
              </a:rPr>
              <a:t>[['math score', 'reading score', 'writing score']].mean(axis=1) </a:t>
            </a:r>
            <a:endParaRPr lang="en-US" b="1" dirty="0" smtClean="0">
              <a:latin typeface="Cambria" pitchFamily="18" charset="0"/>
              <a:ea typeface="Cambria" pitchFamily="18" charset="0"/>
            </a:endParaRPr>
          </a:p>
          <a:p>
            <a:r>
              <a:rPr lang="en-US" b="1" dirty="0" err="1" smtClean="0">
                <a:latin typeface="Cambria" pitchFamily="18" charset="0"/>
                <a:ea typeface="Cambria" pitchFamily="18" charset="0"/>
              </a:rPr>
              <a:t>df</a:t>
            </a:r>
            <a:r>
              <a:rPr lang="en-US" b="1" dirty="0" smtClean="0">
                <a:latin typeface="Cambria" pitchFamily="18" charset="0"/>
                <a:ea typeface="Cambria" pitchFamily="18" charset="0"/>
              </a:rPr>
              <a:t>['</a:t>
            </a:r>
            <a:r>
              <a:rPr lang="en-US" b="1" dirty="0" err="1" smtClean="0">
                <a:latin typeface="Cambria" pitchFamily="18" charset="0"/>
                <a:ea typeface="Cambria" pitchFamily="18" charset="0"/>
              </a:rPr>
              <a:t>pass_fail</a:t>
            </a:r>
            <a:r>
              <a:rPr lang="en-US" b="1" dirty="0" smtClean="0">
                <a:latin typeface="Cambria" pitchFamily="18" charset="0"/>
                <a:ea typeface="Cambria" pitchFamily="18" charset="0"/>
              </a:rPr>
              <a:t>'] = </a:t>
            </a:r>
            <a:r>
              <a:rPr lang="en-US" b="1" dirty="0" err="1" smtClean="0">
                <a:latin typeface="Cambria" pitchFamily="18" charset="0"/>
                <a:ea typeface="Cambria" pitchFamily="18" charset="0"/>
              </a:rPr>
              <a:t>np.where</a:t>
            </a:r>
            <a:r>
              <a:rPr lang="en-US" b="1" dirty="0" smtClean="0">
                <a:latin typeface="Cambria" pitchFamily="18" charset="0"/>
                <a:ea typeface="Cambria" pitchFamily="18" charset="0"/>
              </a:rPr>
              <a:t>(</a:t>
            </a:r>
            <a:r>
              <a:rPr lang="en-US" b="1" dirty="0" err="1" smtClean="0">
                <a:latin typeface="Cambria" pitchFamily="18" charset="0"/>
                <a:ea typeface="Cambria" pitchFamily="18" charset="0"/>
              </a:rPr>
              <a:t>df</a:t>
            </a:r>
            <a:r>
              <a:rPr lang="en-US" b="1" dirty="0" smtClean="0">
                <a:latin typeface="Cambria" pitchFamily="18" charset="0"/>
                <a:ea typeface="Cambria" pitchFamily="18" charset="0"/>
              </a:rPr>
              <a:t>['</a:t>
            </a:r>
            <a:r>
              <a:rPr lang="en-US" b="1" dirty="0" err="1" smtClean="0">
                <a:latin typeface="Cambria" pitchFamily="18" charset="0"/>
                <a:ea typeface="Cambria" pitchFamily="18" charset="0"/>
              </a:rPr>
              <a:t>average_score</a:t>
            </a:r>
            <a:r>
              <a:rPr lang="en-US" b="1" dirty="0" smtClean="0">
                <a:latin typeface="Cambria" pitchFamily="18" charset="0"/>
                <a:ea typeface="Cambria" pitchFamily="18" charset="0"/>
              </a:rPr>
              <a:t>'] &gt;= 50, 1, 0) # 1 = Pass, 0 = Fail </a:t>
            </a:r>
            <a:endParaRPr lang="en-US" b="1" dirty="0" smtClean="0">
              <a:latin typeface="Cambria" pitchFamily="18" charset="0"/>
              <a:ea typeface="Cambria" pitchFamily="18" charset="0"/>
            </a:endParaRPr>
          </a:p>
          <a:p>
            <a:r>
              <a:rPr lang="en-US" dirty="0" smtClean="0">
                <a:latin typeface="Cambria" pitchFamily="18" charset="0"/>
                <a:ea typeface="Cambria" pitchFamily="18" charset="0"/>
              </a:rPr>
              <a:t># </a:t>
            </a:r>
            <a:r>
              <a:rPr lang="en-US" dirty="0" smtClean="0">
                <a:latin typeface="Cambria" pitchFamily="18" charset="0"/>
                <a:ea typeface="Cambria" pitchFamily="18" charset="0"/>
              </a:rPr>
              <a:t>One-hot encode categorical variables </a:t>
            </a:r>
            <a:endParaRPr lang="en-US" dirty="0" smtClean="0">
              <a:latin typeface="Cambria" pitchFamily="18" charset="0"/>
              <a:ea typeface="Cambria" pitchFamily="18" charset="0"/>
            </a:endParaRPr>
          </a:p>
          <a:p>
            <a:r>
              <a:rPr lang="en-US" b="1" dirty="0" err="1" smtClean="0">
                <a:latin typeface="Cambria" pitchFamily="18" charset="0"/>
                <a:ea typeface="Cambria" pitchFamily="18" charset="0"/>
              </a:rPr>
              <a:t>df_encoded</a:t>
            </a:r>
            <a:r>
              <a:rPr lang="en-US" b="1" dirty="0" smtClean="0">
                <a:latin typeface="Cambria" pitchFamily="18" charset="0"/>
                <a:ea typeface="Cambria" pitchFamily="18" charset="0"/>
              </a:rPr>
              <a:t> </a:t>
            </a:r>
            <a:r>
              <a:rPr lang="en-US" b="1" dirty="0" smtClean="0">
                <a:latin typeface="Cambria" pitchFamily="18" charset="0"/>
                <a:ea typeface="Cambria" pitchFamily="18" charset="0"/>
              </a:rPr>
              <a:t>= </a:t>
            </a:r>
            <a:r>
              <a:rPr lang="en-US" b="1" dirty="0" err="1" smtClean="0">
                <a:latin typeface="Cambria" pitchFamily="18" charset="0"/>
                <a:ea typeface="Cambria" pitchFamily="18" charset="0"/>
              </a:rPr>
              <a:t>pd.get_dummies</a:t>
            </a:r>
            <a:r>
              <a:rPr lang="en-US" b="1" dirty="0" smtClean="0">
                <a:latin typeface="Cambria" pitchFamily="18" charset="0"/>
                <a:ea typeface="Cambria" pitchFamily="18" charset="0"/>
              </a:rPr>
              <a:t>(</a:t>
            </a:r>
            <a:r>
              <a:rPr lang="en-US" b="1" dirty="0" err="1" smtClean="0">
                <a:latin typeface="Cambria" pitchFamily="18" charset="0"/>
                <a:ea typeface="Cambria" pitchFamily="18" charset="0"/>
              </a:rPr>
              <a:t>df</a:t>
            </a:r>
            <a:r>
              <a:rPr lang="en-US" b="1" dirty="0" smtClean="0">
                <a:latin typeface="Cambria" pitchFamily="18" charset="0"/>
                <a:ea typeface="Cambria" pitchFamily="18" charset="0"/>
              </a:rPr>
              <a:t>, columns=['gender', 'race/ethnicity', 'lunch', 'test preparation course'], </a:t>
            </a:r>
            <a:r>
              <a:rPr lang="en-US" b="1" dirty="0" err="1" smtClean="0">
                <a:latin typeface="Cambria" pitchFamily="18" charset="0"/>
                <a:ea typeface="Cambria" pitchFamily="18" charset="0"/>
              </a:rPr>
              <a:t>drop_first</a:t>
            </a:r>
            <a:r>
              <a:rPr lang="en-US" b="1" dirty="0" smtClean="0">
                <a:latin typeface="Cambria" pitchFamily="18" charset="0"/>
                <a:ea typeface="Cambria" pitchFamily="18" charset="0"/>
              </a:rPr>
              <a:t>=True</a:t>
            </a:r>
            <a:r>
              <a:rPr lang="en-US" dirty="0" smtClean="0">
                <a:latin typeface="Cambria" pitchFamily="18" charset="0"/>
                <a:ea typeface="Cambria" pitchFamily="18" charset="0"/>
              </a:rPr>
              <a:t>)</a:t>
            </a:r>
          </a:p>
          <a:p>
            <a:r>
              <a:rPr lang="en-US" dirty="0" smtClean="0">
                <a:latin typeface="Cambria" pitchFamily="18" charset="0"/>
                <a:ea typeface="Cambria" pitchFamily="18" charset="0"/>
              </a:rPr>
              <a:t> </a:t>
            </a:r>
            <a:r>
              <a:rPr lang="en-US" dirty="0" smtClean="0">
                <a:latin typeface="Cambria" pitchFamily="18" charset="0"/>
                <a:ea typeface="Cambria" pitchFamily="18" charset="0"/>
              </a:rPr>
              <a:t># Drop unnecessary </a:t>
            </a:r>
            <a:r>
              <a:rPr lang="en-US" dirty="0" smtClean="0">
                <a:latin typeface="Cambria" pitchFamily="18" charset="0"/>
                <a:ea typeface="Cambria" pitchFamily="18" charset="0"/>
              </a:rPr>
              <a:t>columns</a:t>
            </a:r>
          </a:p>
          <a:p>
            <a:r>
              <a:rPr lang="en-US" b="1" dirty="0" smtClean="0">
                <a:latin typeface="Cambria" pitchFamily="18" charset="0"/>
                <a:ea typeface="Cambria" pitchFamily="18" charset="0"/>
              </a:rPr>
              <a:t> </a:t>
            </a:r>
            <a:r>
              <a:rPr lang="en-US" b="1" dirty="0" err="1" smtClean="0">
                <a:latin typeface="Cambria" pitchFamily="18" charset="0"/>
                <a:ea typeface="Cambria" pitchFamily="18" charset="0"/>
              </a:rPr>
              <a:t>df_encoded.drop</a:t>
            </a:r>
            <a:r>
              <a:rPr lang="en-US" b="1" dirty="0" smtClean="0">
                <a:latin typeface="Cambria" pitchFamily="18" charset="0"/>
                <a:ea typeface="Cambria" pitchFamily="18" charset="0"/>
              </a:rPr>
              <a:t>(columns=['math score', 'reading score', 'writing score', '</a:t>
            </a:r>
            <a:r>
              <a:rPr lang="en-US" b="1" dirty="0" err="1" smtClean="0">
                <a:latin typeface="Cambria" pitchFamily="18" charset="0"/>
                <a:ea typeface="Cambria" pitchFamily="18" charset="0"/>
              </a:rPr>
              <a:t>average_score</a:t>
            </a:r>
            <a:r>
              <a:rPr lang="en-US" b="1" dirty="0" smtClean="0">
                <a:latin typeface="Cambria" pitchFamily="18" charset="0"/>
                <a:ea typeface="Cambria" pitchFamily="18" charset="0"/>
              </a:rPr>
              <a:t>'], </a:t>
            </a:r>
            <a:r>
              <a:rPr lang="en-US" b="1" dirty="0" err="1" smtClean="0">
                <a:latin typeface="Cambria" pitchFamily="18" charset="0"/>
                <a:ea typeface="Cambria" pitchFamily="18" charset="0"/>
              </a:rPr>
              <a:t>inplace</a:t>
            </a:r>
            <a:r>
              <a:rPr lang="en-US" b="1" dirty="0" smtClean="0">
                <a:latin typeface="Cambria" pitchFamily="18" charset="0"/>
                <a:ea typeface="Cambria" pitchFamily="18" charset="0"/>
              </a:rPr>
              <a:t>=True) </a:t>
            </a:r>
          </a:p>
          <a:p>
            <a:pPr lvl="1">
              <a:buFont typeface="Wingdings" pitchFamily="2" charset="2"/>
              <a:buChar char="§"/>
            </a:pPr>
            <a:endParaRPr lang="en-IN" sz="2000" dirty="0" smtClean="0">
              <a:latin typeface="Cambria" pitchFamily="18" charset="0"/>
              <a:ea typeface="Cambria" pitchFamily="18" charset="0"/>
            </a:endParaRPr>
          </a:p>
          <a:p>
            <a:pPr lvl="1">
              <a:buFont typeface="Wingdings" pitchFamily="2" charset="2"/>
              <a:buChar char="§"/>
            </a:pPr>
            <a:endParaRPr lang="en-US" sz="2000" dirty="0" smtClean="0">
              <a:latin typeface="Cambria" pitchFamily="18" charset="0"/>
              <a:ea typeface="Cambria" pitchFamily="18" charset="0"/>
            </a:endParaRPr>
          </a:p>
          <a:p>
            <a:pPr lvl="1">
              <a:buFont typeface="Wingdings" pitchFamily="2" charset="2"/>
              <a:buChar char="§"/>
            </a:pPr>
            <a:endParaRPr lang="en-US" sz="2000" dirty="0" smtClean="0">
              <a:latin typeface="Cambria" pitchFamily="18" charset="0"/>
              <a:ea typeface="Cambria"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1142984"/>
            <a:ext cx="8286808" cy="2308324"/>
          </a:xfrm>
          <a:prstGeom prst="rect">
            <a:avLst/>
          </a:prstGeom>
        </p:spPr>
        <p:txBody>
          <a:bodyPr wrap="square">
            <a:spAutoFit/>
          </a:bodyPr>
          <a:lstStyle/>
          <a:p>
            <a:r>
              <a:rPr lang="en-US" sz="2400" b="1" dirty="0" smtClean="0">
                <a:solidFill>
                  <a:schemeClr val="accent1">
                    <a:lumMod val="75000"/>
                  </a:schemeClr>
                </a:solidFill>
                <a:latin typeface="Cambria" pitchFamily="18" charset="0"/>
                <a:ea typeface="Cambria" pitchFamily="18" charset="0"/>
              </a:rPr>
              <a:t>Data Visualization</a:t>
            </a:r>
          </a:p>
          <a:p>
            <a:pPr>
              <a:buClr>
                <a:schemeClr val="accent3"/>
              </a:buClr>
            </a:pPr>
            <a:endParaRPr lang="en-US" sz="2000" b="1" dirty="0" smtClean="0"/>
          </a:p>
          <a:p>
            <a:pPr>
              <a:buClr>
                <a:schemeClr val="accent3"/>
              </a:buClr>
            </a:pPr>
            <a:r>
              <a:rPr lang="en-IN" sz="2000" b="1" dirty="0" smtClean="0"/>
              <a:t>POWER BI:</a:t>
            </a:r>
            <a:endParaRPr lang="en-US" sz="2000" b="1" dirty="0" smtClean="0"/>
          </a:p>
          <a:p>
            <a:pPr>
              <a:buClr>
                <a:schemeClr val="accent3"/>
              </a:buClr>
              <a:buFont typeface="Wingdings" pitchFamily="2" charset="2"/>
              <a:buChar char="v"/>
            </a:pPr>
            <a:r>
              <a:rPr lang="en-US" sz="2000" b="1" dirty="0" smtClean="0"/>
              <a:t>Title</a:t>
            </a:r>
            <a:r>
              <a:rPr lang="en-US" sz="2000" dirty="0" smtClean="0"/>
              <a:t>: Keep a clear and descriptive title for each visualization.</a:t>
            </a:r>
          </a:p>
          <a:p>
            <a:pPr>
              <a:buClr>
                <a:schemeClr val="accent3"/>
              </a:buClr>
            </a:pPr>
            <a:r>
              <a:rPr lang="en-US" sz="2000" b="1" dirty="0" smtClean="0"/>
              <a:t> </a:t>
            </a:r>
            <a:r>
              <a:rPr lang="en-US" sz="2000" b="1" dirty="0" smtClean="0"/>
              <a:t>        Example</a:t>
            </a:r>
            <a:r>
              <a:rPr lang="en-US" sz="2000" dirty="0" smtClean="0"/>
              <a:t>: </a:t>
            </a:r>
            <a:r>
              <a:rPr lang="en-US" sz="2000" i="1" dirty="0" smtClean="0"/>
              <a:t>"Average Student Performance in Math, Reading, and </a:t>
            </a:r>
            <a:r>
              <a:rPr lang="en-US" sz="2000" i="1" dirty="0" smtClean="0"/>
              <a:t>Writing by Gender"</a:t>
            </a:r>
            <a:r>
              <a:rPr lang="en-US" sz="2000" dirty="0" smtClean="0"/>
              <a:t>.</a:t>
            </a:r>
            <a:endParaRPr lang="en-US" sz="2000" dirty="0" smtClean="0"/>
          </a:p>
          <a:p>
            <a:pPr>
              <a:buClr>
                <a:schemeClr val="accent3"/>
              </a:buClr>
            </a:pPr>
            <a:endParaRPr lang="en-US" sz="2000" b="1" dirty="0" smtClean="0">
              <a:latin typeface="Cambria" pitchFamily="18" charset="0"/>
              <a:ea typeface="Cambria" pitchFamily="18" charset="0"/>
            </a:endParaRPr>
          </a:p>
        </p:txBody>
      </p:sp>
      <p:sp>
        <p:nvSpPr>
          <p:cNvPr id="5" name="Rectangle 4"/>
          <p:cNvSpPr/>
          <p:nvPr/>
        </p:nvSpPr>
        <p:spPr>
          <a:xfrm>
            <a:off x="571472" y="3214686"/>
            <a:ext cx="8143932" cy="2554545"/>
          </a:xfrm>
          <a:prstGeom prst="rect">
            <a:avLst/>
          </a:prstGeom>
        </p:spPr>
        <p:txBody>
          <a:bodyPr wrap="square">
            <a:spAutoFit/>
          </a:bodyPr>
          <a:lstStyle/>
          <a:p>
            <a:pPr>
              <a:buClr>
                <a:schemeClr val="accent3"/>
              </a:buClr>
              <a:buFont typeface="Wingdings" pitchFamily="2" charset="2"/>
              <a:buChar char="v"/>
            </a:pPr>
            <a:r>
              <a:rPr lang="en-US" sz="2000" b="1" dirty="0" smtClean="0">
                <a:latin typeface="Cambria" pitchFamily="18" charset="0"/>
                <a:ea typeface="Cambria" pitchFamily="18" charset="0"/>
              </a:rPr>
              <a:t>Explanation</a:t>
            </a:r>
            <a:r>
              <a:rPr lang="en-US" sz="2000" dirty="0" smtClean="0">
                <a:latin typeface="Cambria" pitchFamily="18" charset="0"/>
                <a:ea typeface="Cambria" pitchFamily="18" charset="0"/>
              </a:rPr>
              <a:t>:</a:t>
            </a:r>
          </a:p>
          <a:p>
            <a:r>
              <a:rPr lang="en-US" sz="2000" dirty="0" smtClean="0">
                <a:latin typeface="Cambria" pitchFamily="18" charset="0"/>
                <a:ea typeface="Cambria" pitchFamily="18" charset="0"/>
              </a:rPr>
              <a:t>         This </a:t>
            </a:r>
            <a:r>
              <a:rPr lang="en-US" sz="2000" dirty="0" smtClean="0">
                <a:latin typeface="Cambria" pitchFamily="18" charset="0"/>
                <a:ea typeface="Cambria" pitchFamily="18" charset="0"/>
              </a:rPr>
              <a:t>chart shows the average performance across the three subjects (Math, Reading, Writing) based on a fixed prediction score of 50. The results are displayed by gender, indicating whether students passed or failed. A score of 50 or higher is considered a 'Pass,' while a score below 50 is considered a 'Fail.'</a:t>
            </a:r>
          </a:p>
          <a:p>
            <a:endParaRPr lang="en-US" sz="2000" dirty="0" smtClean="0">
              <a:latin typeface="Cambria" pitchFamily="18" charset="0"/>
              <a:ea typeface="Cambria" pitchFamily="18" charset="0"/>
            </a:endParaRPr>
          </a:p>
          <a:p>
            <a:endParaRPr lang="en-US" sz="2000" dirty="0" smtClean="0">
              <a:latin typeface="Cambria" pitchFamily="18" charset="0"/>
              <a:ea typeface="Cambria"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srcRect/>
          <a:stretch>
            <a:fillRect/>
          </a:stretch>
        </p:blipFill>
        <p:spPr bwMode="auto">
          <a:xfrm>
            <a:off x="5572132" y="3214686"/>
            <a:ext cx="2857520" cy="1535384"/>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857224" y="4786322"/>
            <a:ext cx="3071834" cy="1334231"/>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a:srcRect/>
          <a:stretch>
            <a:fillRect/>
          </a:stretch>
        </p:blipFill>
        <p:spPr bwMode="auto">
          <a:xfrm>
            <a:off x="5786446" y="4714884"/>
            <a:ext cx="2714644" cy="1362639"/>
          </a:xfrm>
          <a:prstGeom prst="rect">
            <a:avLst/>
          </a:prstGeom>
          <a:noFill/>
          <a:ln w="9525">
            <a:noFill/>
            <a:miter lim="800000"/>
            <a:headEnd/>
            <a:tailEnd/>
          </a:ln>
          <a:effectLst/>
        </p:spPr>
      </p:pic>
      <p:pic>
        <p:nvPicPr>
          <p:cNvPr id="2054" name="Picture 6"/>
          <p:cNvPicPr>
            <a:picLocks noChangeAspect="1" noChangeArrowheads="1"/>
          </p:cNvPicPr>
          <p:nvPr/>
        </p:nvPicPr>
        <p:blipFill>
          <a:blip r:embed="rId5"/>
          <a:srcRect/>
          <a:stretch>
            <a:fillRect/>
          </a:stretch>
        </p:blipFill>
        <p:spPr bwMode="auto">
          <a:xfrm>
            <a:off x="857224" y="3500438"/>
            <a:ext cx="2714644" cy="1302481"/>
          </a:xfrm>
          <a:prstGeom prst="rect">
            <a:avLst/>
          </a:prstGeom>
          <a:noFill/>
          <a:ln w="9525">
            <a:noFill/>
            <a:miter lim="800000"/>
            <a:headEnd/>
            <a:tailEnd/>
          </a:ln>
          <a:effectLst/>
        </p:spPr>
      </p:pic>
      <p:pic>
        <p:nvPicPr>
          <p:cNvPr id="7" name="Picture 2"/>
          <p:cNvPicPr>
            <a:picLocks noChangeAspect="1" noChangeArrowheads="1"/>
          </p:cNvPicPr>
          <p:nvPr/>
        </p:nvPicPr>
        <p:blipFill>
          <a:blip r:embed="rId6"/>
          <a:srcRect/>
          <a:stretch>
            <a:fillRect/>
          </a:stretch>
        </p:blipFill>
        <p:spPr bwMode="auto">
          <a:xfrm>
            <a:off x="1285852" y="714356"/>
            <a:ext cx="5997147" cy="271464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928670"/>
            <a:ext cx="7858180" cy="5139869"/>
          </a:xfrm>
          <a:prstGeom prst="rect">
            <a:avLst/>
          </a:prstGeom>
        </p:spPr>
        <p:txBody>
          <a:bodyPr wrap="square">
            <a:spAutoFit/>
          </a:bodyPr>
          <a:lstStyle/>
          <a:p>
            <a:r>
              <a:rPr lang="en-US" sz="2400" b="1" dirty="0" smtClean="0">
                <a:solidFill>
                  <a:schemeClr val="accent1">
                    <a:lumMod val="75000"/>
                  </a:schemeClr>
                </a:solidFill>
                <a:latin typeface="Cambria" pitchFamily="18" charset="0"/>
                <a:ea typeface="Cambria" pitchFamily="18" charset="0"/>
              </a:rPr>
              <a:t>Model Selection:</a:t>
            </a:r>
          </a:p>
          <a:p>
            <a:endParaRPr lang="en-US" sz="2400" b="1" dirty="0" smtClean="0">
              <a:solidFill>
                <a:schemeClr val="accent1">
                  <a:lumMod val="75000"/>
                </a:schemeClr>
              </a:solidFill>
              <a:latin typeface="Cambria" pitchFamily="18" charset="0"/>
              <a:ea typeface="Cambria" pitchFamily="18" charset="0"/>
            </a:endParaRPr>
          </a:p>
          <a:p>
            <a:pPr>
              <a:buClr>
                <a:schemeClr val="accent3"/>
              </a:buClr>
              <a:buFont typeface="Wingdings" pitchFamily="2" charset="2"/>
              <a:buChar char="v"/>
            </a:pPr>
            <a:r>
              <a:rPr lang="en-US" sz="2000" b="1" dirty="0" smtClean="0">
                <a:latin typeface="Cambria" pitchFamily="18" charset="0"/>
                <a:ea typeface="Cambria" pitchFamily="18" charset="0"/>
              </a:rPr>
              <a:t>Machine Learning Models Used</a:t>
            </a:r>
            <a:r>
              <a:rPr lang="en-US" sz="2000" dirty="0" smtClean="0">
                <a:latin typeface="Cambria" pitchFamily="18" charset="0"/>
                <a:ea typeface="Cambria" pitchFamily="18" charset="0"/>
              </a:rPr>
              <a:t>:</a:t>
            </a:r>
          </a:p>
          <a:p>
            <a:pPr lvl="1">
              <a:buFont typeface="Wingdings" pitchFamily="2" charset="2"/>
              <a:buChar char="§"/>
            </a:pPr>
            <a:r>
              <a:rPr lang="en-US" sz="2000" dirty="0" smtClean="0">
                <a:latin typeface="Cambria" pitchFamily="18" charset="0"/>
                <a:ea typeface="Cambria" pitchFamily="18" charset="0"/>
              </a:rPr>
              <a:t>Decision Tree Classifier (or other models tried: Random Forest, SVM, etc.). Why this tree was </a:t>
            </a:r>
            <a:r>
              <a:rPr lang="en-US" sz="2000" dirty="0" smtClean="0">
                <a:latin typeface="Cambria" pitchFamily="18" charset="0"/>
                <a:ea typeface="Cambria" pitchFamily="18" charset="0"/>
              </a:rPr>
              <a:t>chosen?</a:t>
            </a:r>
            <a:endParaRPr lang="en-US" sz="2000" dirty="0" smtClean="0">
              <a:latin typeface="Cambria" pitchFamily="18" charset="0"/>
              <a:ea typeface="Cambria" pitchFamily="18" charset="0"/>
            </a:endParaRPr>
          </a:p>
          <a:p>
            <a:pPr marL="342900" indent="-342900">
              <a:buFont typeface="+mj-lt"/>
              <a:buAutoNum type="arabicParenR"/>
            </a:pPr>
            <a:r>
              <a:rPr lang="en-US" sz="2000" b="1" dirty="0" smtClean="0">
                <a:latin typeface="Cambria" pitchFamily="18" charset="0"/>
                <a:ea typeface="Cambria" pitchFamily="18" charset="0"/>
              </a:rPr>
              <a:t>Simplicity</a:t>
            </a:r>
            <a:r>
              <a:rPr lang="en-US" sz="2000" dirty="0" smtClean="0">
                <a:latin typeface="Cambria" pitchFamily="18" charset="0"/>
                <a:ea typeface="Cambria" pitchFamily="18" charset="0"/>
              </a:rPr>
              <a:t>:</a:t>
            </a:r>
          </a:p>
          <a:p>
            <a:pPr lvl="1"/>
            <a:r>
              <a:rPr lang="en-US" sz="2000" dirty="0" smtClean="0">
                <a:latin typeface="Cambria" pitchFamily="18" charset="0"/>
                <a:ea typeface="Cambria" pitchFamily="18" charset="0"/>
              </a:rPr>
              <a:t>Decision Trees are straightforward and easy to implement. They don't require extensive data preprocessing or scaling, making them ideal for educational datasets with mixed data types (numerical and categorical).</a:t>
            </a:r>
          </a:p>
          <a:p>
            <a:pPr marL="342900" indent="-342900">
              <a:buFont typeface="+mj-lt"/>
              <a:buAutoNum type="arabicParenR"/>
            </a:pPr>
            <a:r>
              <a:rPr lang="en-US" sz="2000" b="1" dirty="0" smtClean="0">
                <a:latin typeface="Cambria" pitchFamily="18" charset="0"/>
                <a:ea typeface="Cambria" pitchFamily="18" charset="0"/>
              </a:rPr>
              <a:t>Interpretability</a:t>
            </a:r>
            <a:r>
              <a:rPr lang="en-US" sz="2000" dirty="0" smtClean="0">
                <a:latin typeface="Cambria" pitchFamily="18" charset="0"/>
                <a:ea typeface="Cambria" pitchFamily="18" charset="0"/>
              </a:rPr>
              <a:t>:</a:t>
            </a:r>
          </a:p>
          <a:p>
            <a:pPr lvl="1"/>
            <a:r>
              <a:rPr lang="en-US" sz="2000" dirty="0" smtClean="0">
                <a:latin typeface="Cambria" pitchFamily="18" charset="0"/>
                <a:ea typeface="Cambria" pitchFamily="18" charset="0"/>
              </a:rPr>
              <a:t>One of the biggest advantages of Decision Trees is their interpretability. Educators and administrators can easily understand the decisions the model makes, as the tree structure clearly shows how each factor (e.g., parental education, test preparation) contributes to predicting student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928670"/>
            <a:ext cx="8001056" cy="2862322"/>
          </a:xfrm>
          <a:prstGeom prst="rect">
            <a:avLst/>
          </a:prstGeom>
        </p:spPr>
        <p:txBody>
          <a:bodyPr wrap="square">
            <a:spAutoFit/>
          </a:bodyPr>
          <a:lstStyle/>
          <a:p>
            <a:pPr marL="342900" indent="-342900"/>
            <a:r>
              <a:rPr lang="en-US" sz="2000" b="1" dirty="0" smtClean="0">
                <a:latin typeface="Cambria" pitchFamily="18" charset="0"/>
                <a:ea typeface="Cambria" pitchFamily="18" charset="0"/>
              </a:rPr>
              <a:t>3)  Accuracy</a:t>
            </a:r>
            <a:r>
              <a:rPr lang="en-US" sz="2000" dirty="0" smtClean="0">
                <a:latin typeface="Cambria" pitchFamily="18" charset="0"/>
                <a:ea typeface="Cambria" pitchFamily="18" charset="0"/>
              </a:rPr>
              <a:t>:</a:t>
            </a:r>
          </a:p>
          <a:p>
            <a:pPr lvl="1"/>
            <a:r>
              <a:rPr lang="en-US" sz="2000" dirty="0" smtClean="0">
                <a:latin typeface="Cambria" pitchFamily="18" charset="0"/>
                <a:ea typeface="Cambria" pitchFamily="18" charset="0"/>
              </a:rPr>
              <a:t>Decision Trees provide competitive accuracy, especially when the relationships in the data are well-defined, as is the case with educational performance (e.g., test scores are naturally correlated with success). Additionally, Decision Trees can handle both classification and regression tasks effectively.</a:t>
            </a:r>
          </a:p>
          <a:p>
            <a:pPr lvl="1">
              <a:buFont typeface="Wingdings" pitchFamily="2" charset="2"/>
              <a:buChar char="§"/>
            </a:pPr>
            <a:endParaRPr lang="en-US" sz="2000" dirty="0" smtClean="0">
              <a:latin typeface="Cambria" pitchFamily="18" charset="0"/>
              <a:ea typeface="Cambria" pitchFamily="18" charset="0"/>
            </a:endParaRPr>
          </a:p>
          <a:p>
            <a:pPr>
              <a:buClr>
                <a:schemeClr val="accent3"/>
              </a:buClr>
              <a:buFont typeface="Wingdings" pitchFamily="2" charset="2"/>
              <a:buChar char="v"/>
            </a:pPr>
            <a:r>
              <a:rPr lang="en-US" sz="2000" b="1" dirty="0" smtClean="0">
                <a:latin typeface="Cambria" pitchFamily="18" charset="0"/>
                <a:ea typeface="Cambria" pitchFamily="18" charset="0"/>
              </a:rPr>
              <a:t>Evaluation Metrics</a:t>
            </a:r>
            <a:r>
              <a:rPr lang="en-US" sz="2000" dirty="0" smtClean="0">
                <a:latin typeface="Cambria" pitchFamily="18" charset="0"/>
                <a:ea typeface="Cambria" pitchFamily="18" charset="0"/>
              </a:rPr>
              <a:t>:</a:t>
            </a:r>
          </a:p>
          <a:p>
            <a:pPr lvl="1"/>
            <a:r>
              <a:rPr lang="en-US" sz="2000" dirty="0" smtClean="0">
                <a:latin typeface="Cambria" pitchFamily="18" charset="0"/>
                <a:ea typeface="Cambria" pitchFamily="18" charset="0"/>
              </a:rPr>
              <a:t>Accuracy, precision, recall, F1-score.</a:t>
            </a:r>
            <a:endParaRPr lang="en-US" sz="2000" dirty="0">
              <a:latin typeface="Cambria" pitchFamily="18" charset="0"/>
              <a:ea typeface="Cambria"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571472" y="1000108"/>
            <a:ext cx="8001056" cy="477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accent1"/>
                </a:solidFill>
                <a:effectLst/>
                <a:latin typeface="Cambria" pitchFamily="18" charset="0"/>
                <a:ea typeface="Cambria" pitchFamily="18" charset="0"/>
                <a:cs typeface="Arial" pitchFamily="34" charset="0"/>
              </a:rPr>
              <a:t>Python Script in Power BI: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You can write Python code directly within Power BI to manipulate the data, create visualizations, or train a machine learning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Here’s an example Python script that calculates average scores and adds a pass/fail column:</a:t>
            </a:r>
            <a:endPar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000" b="1" i="0" u="none" strike="noStrike" cap="none" normalizeH="0" baseline="0" dirty="0" smtClean="0">
                <a:ln>
                  <a:noFill/>
                </a:ln>
                <a:solidFill>
                  <a:schemeClr val="accent1"/>
                </a:solidFill>
                <a:effectLst/>
                <a:latin typeface="Cambria" pitchFamily="18" charset="0"/>
                <a:ea typeface="Cambria" pitchFamily="18" charset="0"/>
                <a:cs typeface="Arial" pitchFamily="34" charset="0"/>
              </a:rPr>
              <a:t>Example Python Script in Power BI: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import pandas as pd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'dataset' is the data frame loaded by Power BI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Calculate the average score and create a pass/fail column </a:t>
            </a: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dataset['</a:t>
            </a:r>
            <a:r>
              <a:rPr kumimoji="0" lang="en-US" sz="2000" b="1" i="0" u="none" strike="noStrike" cap="none" normalizeH="0" baseline="0" dirty="0" err="1" smtClean="0">
                <a:ln>
                  <a:noFill/>
                </a:ln>
                <a:solidFill>
                  <a:schemeClr val="tx1"/>
                </a:solidFill>
                <a:effectLst/>
                <a:latin typeface="Cambria" pitchFamily="18" charset="0"/>
                <a:ea typeface="Cambria" pitchFamily="18" charset="0"/>
                <a:cs typeface="Arial" pitchFamily="34" charset="0"/>
              </a:rPr>
              <a:t>average_score</a:t>
            </a: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 = dataset[['math score', 'reading score', 'writing score']].mean(axis=1)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dataset['</a:t>
            </a:r>
            <a:r>
              <a:rPr kumimoji="0" lang="en-US" sz="2000" b="1" i="0" u="none" strike="noStrike" cap="none" normalizeH="0" baseline="0" dirty="0" err="1" smtClean="0">
                <a:ln>
                  <a:noFill/>
                </a:ln>
                <a:solidFill>
                  <a:schemeClr val="tx1"/>
                </a:solidFill>
                <a:effectLst/>
                <a:latin typeface="Cambria" pitchFamily="18" charset="0"/>
                <a:ea typeface="Cambria" pitchFamily="18" charset="0"/>
                <a:cs typeface="Arial" pitchFamily="34" charset="0"/>
              </a:rPr>
              <a:t>pass_fail</a:t>
            </a: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 = dataset['</a:t>
            </a:r>
            <a:r>
              <a:rPr kumimoji="0" lang="en-US" sz="2000" b="1" i="0" u="none" strike="noStrike" cap="none" normalizeH="0" baseline="0" dirty="0" err="1" smtClean="0">
                <a:ln>
                  <a:noFill/>
                </a:ln>
                <a:solidFill>
                  <a:schemeClr val="tx1"/>
                </a:solidFill>
                <a:effectLst/>
                <a:latin typeface="Cambria" pitchFamily="18" charset="0"/>
                <a:ea typeface="Cambria" pitchFamily="18" charset="0"/>
                <a:cs typeface="Arial" pitchFamily="34" charset="0"/>
              </a:rPr>
              <a:t>average_score</a:t>
            </a:r>
            <a:r>
              <a:rPr kumimoji="0" lang="en-US" sz="2000" b="1" i="0" u="none" strike="noStrike" cap="none" normalizeH="0" baseline="0" dirty="0" smtClean="0">
                <a:ln>
                  <a:noFill/>
                </a:ln>
                <a:solidFill>
                  <a:schemeClr val="tx1"/>
                </a:solidFill>
                <a:effectLst/>
                <a:latin typeface="Cambria" pitchFamily="18" charset="0"/>
                <a:ea typeface="Cambria" pitchFamily="18" charset="0"/>
                <a:cs typeface="Arial" pitchFamily="34" charset="0"/>
              </a:rPr>
              <a:t>'].apply(lambda x: 'Pass' if x &gt;= 50 else 'Fail')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00034" y="1000107"/>
            <a:ext cx="8001056" cy="5663089"/>
          </a:xfrm>
          <a:prstGeom prst="rect">
            <a:avLst/>
          </a:prstGeom>
        </p:spPr>
        <p:txBody>
          <a:bodyPr wrap="square">
            <a:spAutoFit/>
          </a:bodyPr>
          <a:lstStyle/>
          <a:p>
            <a:r>
              <a:rPr lang="en-US" sz="2400" b="1" dirty="0" smtClean="0">
                <a:solidFill>
                  <a:schemeClr val="accent1"/>
                </a:solidFill>
                <a:latin typeface="Cambria" pitchFamily="18" charset="0"/>
                <a:ea typeface="Cambria" pitchFamily="18" charset="0"/>
              </a:rPr>
              <a:t>Improving Student Performance: Key Strategies</a:t>
            </a:r>
          </a:p>
          <a:p>
            <a:endParaRPr lang="en-US" b="1" dirty="0" smtClean="0"/>
          </a:p>
          <a:p>
            <a:r>
              <a:rPr lang="en-US" sz="2000" b="1" dirty="0" smtClean="0">
                <a:latin typeface="Cambria" pitchFamily="18" charset="0"/>
                <a:ea typeface="Cambria" pitchFamily="18" charset="0"/>
              </a:rPr>
              <a:t>Identify </a:t>
            </a:r>
            <a:r>
              <a:rPr lang="en-US" sz="2000" b="1" dirty="0" smtClean="0">
                <a:latin typeface="Cambria" pitchFamily="18" charset="0"/>
                <a:ea typeface="Cambria" pitchFamily="18" charset="0"/>
              </a:rPr>
              <a:t>Key Factors</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Analyze data to find what impacts performance most (e.g., attendance, test preparation).</a:t>
            </a:r>
          </a:p>
          <a:p>
            <a:r>
              <a:rPr lang="en-US" sz="2000" b="1" dirty="0" smtClean="0">
                <a:latin typeface="Cambria" pitchFamily="18" charset="0"/>
                <a:ea typeface="Cambria" pitchFamily="18" charset="0"/>
              </a:rPr>
              <a:t>Early Warning System</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Flag at-risk students for timely intervention.</a:t>
            </a:r>
          </a:p>
          <a:p>
            <a:r>
              <a:rPr lang="en-US" sz="2000" b="1" dirty="0" smtClean="0">
                <a:latin typeface="Cambria" pitchFamily="18" charset="0"/>
                <a:ea typeface="Cambria" pitchFamily="18" charset="0"/>
              </a:rPr>
              <a:t>Personalized Learning</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Tailor learning plans based on individual student needs.</a:t>
            </a:r>
          </a:p>
          <a:p>
            <a:r>
              <a:rPr lang="en-US" sz="2000" b="1" dirty="0" smtClean="0">
                <a:latin typeface="Cambria" pitchFamily="18" charset="0"/>
                <a:ea typeface="Cambria" pitchFamily="18" charset="0"/>
              </a:rPr>
              <a:t>Enhance Test Preparation</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Provide extra support for students lacking preparation.</a:t>
            </a:r>
          </a:p>
          <a:p>
            <a:r>
              <a:rPr lang="en-US" sz="2000" b="1" dirty="0" smtClean="0">
                <a:latin typeface="Cambria" pitchFamily="18" charset="0"/>
                <a:ea typeface="Cambria" pitchFamily="18" charset="0"/>
              </a:rPr>
              <a:t>Boost Engagement</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Encourage participation and track attendance for better outcomes.</a:t>
            </a:r>
          </a:p>
          <a:p>
            <a:r>
              <a:rPr lang="en-US" sz="2000" b="1" dirty="0" smtClean="0">
                <a:latin typeface="Cambria" pitchFamily="18" charset="0"/>
                <a:ea typeface="Cambria" pitchFamily="18" charset="0"/>
              </a:rPr>
              <a:t>Parental Involvement</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Foster communication between teachers and parents to support students.</a:t>
            </a:r>
          </a:p>
          <a:p>
            <a:r>
              <a:rPr lang="en-US" sz="2000" b="1" dirty="0" smtClean="0">
                <a:latin typeface="Cambria" pitchFamily="18" charset="0"/>
                <a:ea typeface="Cambria" pitchFamily="18" charset="0"/>
              </a:rPr>
              <a:t>Optimize Resources</a:t>
            </a:r>
            <a:endParaRPr lang="en-US" sz="2000" dirty="0" smtClean="0">
              <a:latin typeface="Cambria" pitchFamily="18" charset="0"/>
              <a:ea typeface="Cambria" pitchFamily="18" charset="0"/>
            </a:endParaRPr>
          </a:p>
          <a:p>
            <a:pPr lvl="1"/>
            <a:r>
              <a:rPr lang="en-US" sz="2000" dirty="0" smtClean="0">
                <a:latin typeface="Cambria" pitchFamily="18" charset="0"/>
                <a:ea typeface="Cambria" pitchFamily="18" charset="0"/>
              </a:rPr>
              <a:t>Allocate resources to areas where students struggle the most</a:t>
            </a:r>
            <a:endParaRPr lang="en-US" sz="2000" dirty="0">
              <a:latin typeface="Cambria" pitchFamily="18" charset="0"/>
              <a:ea typeface="Cambria"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0100" y="1571612"/>
            <a:ext cx="7858180" cy="1754326"/>
          </a:xfrm>
          <a:prstGeom prst="rect">
            <a:avLst/>
          </a:prstGeom>
        </p:spPr>
        <p:txBody>
          <a:bodyPr wrap="square">
            <a:spAutoFit/>
          </a:bodyPr>
          <a:lstStyle/>
          <a:p>
            <a:endParaRPr lang="en-US" sz="5400" dirty="0" smtClean="0">
              <a:latin typeface="Cambria" pitchFamily="18" charset="0"/>
              <a:ea typeface="Cambria" pitchFamily="18" charset="0"/>
            </a:endParaRPr>
          </a:p>
          <a:p>
            <a:r>
              <a:rPr lang="en-US" sz="5400" dirty="0" smtClean="0">
                <a:latin typeface="Cambria" pitchFamily="18" charset="0"/>
                <a:ea typeface="Cambria" pitchFamily="18" charset="0"/>
              </a:rPr>
              <a:t>          THANK </a:t>
            </a:r>
            <a:r>
              <a:rPr lang="en-US" sz="5400" dirty="0" smtClean="0">
                <a:latin typeface="Cambria" pitchFamily="18" charset="0"/>
                <a:ea typeface="Cambria" pitchFamily="18" charset="0"/>
              </a:rPr>
              <a:t>YOU</a:t>
            </a:r>
            <a:endParaRPr lang="en-US" sz="5400" dirty="0">
              <a:latin typeface="Cambria" pitchFamily="18" charset="0"/>
              <a:ea typeface="Cambria"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258</TotalTime>
  <Words>902</Words>
  <Application>Microsoft Office PowerPoint</Application>
  <PresentationFormat>On-screen Show (4:3)</PresentationFormat>
  <Paragraphs>95</Paragraphs>
  <Slides>14</Slides>
  <Notes>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Flow</vt:lpstr>
      <vt:lpstr>EDUCATIONAL DATA MINING FOR STUDENTS PERFORMANCE </vt:lpstr>
      <vt:lpstr>Educational Data Mining (EDM) </vt:lpstr>
      <vt:lpstr> </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EDUCATIONAL DATA MINING FOR STUDENTS PERFORMANCE</dc:title>
  <dc:creator>dell</dc:creator>
  <cp:lastModifiedBy>dell</cp:lastModifiedBy>
  <cp:revision>33</cp:revision>
  <dcterms:created xsi:type="dcterms:W3CDTF">2024-10-09T06:15:02Z</dcterms:created>
  <dcterms:modified xsi:type="dcterms:W3CDTF">2024-10-17T09:44:46Z</dcterms:modified>
</cp:coreProperties>
</file>